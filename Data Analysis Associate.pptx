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MVItVc9/SI2kLm/i2mgIiopD2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D:\All%20course%20material\CDA\DAA\orders_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[orders_data.xlsx]Comparison!PivotTable5</c:name>
    <c:fmtId val="3"/>
  </c:pivotSource>
  <c:chart>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Comparison!$B$3</c:f>
              <c:strCache>
                <c:ptCount val="1"/>
                <c:pt idx="0">
                  <c:v>Total Profit</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Comparison!$A$4:$A$8</c:f>
              <c:strCache>
                <c:ptCount val="4"/>
                <c:pt idx="0">
                  <c:v>Central</c:v>
                </c:pt>
                <c:pt idx="1">
                  <c:v>East</c:v>
                </c:pt>
                <c:pt idx="2">
                  <c:v>South</c:v>
                </c:pt>
                <c:pt idx="3">
                  <c:v>West</c:v>
                </c:pt>
              </c:strCache>
            </c:strRef>
          </c:cat>
          <c:val>
            <c:numRef>
              <c:f>Comparison!$B$4:$B$8</c:f>
              <c:numCache>
                <c:formatCode>0</c:formatCode>
                <c:ptCount val="4"/>
                <c:pt idx="0">
                  <c:v>39706.362499999981</c:v>
                </c:pt>
                <c:pt idx="1">
                  <c:v>91522.780000000261</c:v>
                </c:pt>
                <c:pt idx="2">
                  <c:v>46749.430300000065</c:v>
                </c:pt>
                <c:pt idx="3">
                  <c:v>108418.44890000018</c:v>
                </c:pt>
              </c:numCache>
            </c:numRef>
          </c:val>
          <c:extLst>
            <c:ext xmlns:c16="http://schemas.microsoft.com/office/drawing/2014/chart" uri="{C3380CC4-5D6E-409C-BE32-E72D297353CC}">
              <c16:uniqueId val="{00000000-1E02-4310-9B84-46B460287FC1}"/>
            </c:ext>
          </c:extLst>
        </c:ser>
        <c:ser>
          <c:idx val="1"/>
          <c:order val="1"/>
          <c:tx>
            <c:strRef>
              <c:f>Comparison!$C$3</c:f>
              <c:strCache>
                <c:ptCount val="1"/>
                <c:pt idx="0">
                  <c:v>Total Sales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Comparison!$A$4:$A$8</c:f>
              <c:strCache>
                <c:ptCount val="4"/>
                <c:pt idx="0">
                  <c:v>Central</c:v>
                </c:pt>
                <c:pt idx="1">
                  <c:v>East</c:v>
                </c:pt>
                <c:pt idx="2">
                  <c:v>South</c:v>
                </c:pt>
                <c:pt idx="3">
                  <c:v>West</c:v>
                </c:pt>
              </c:strCache>
            </c:strRef>
          </c:cat>
          <c:val>
            <c:numRef>
              <c:f>Comparison!$C$4:$C$8</c:f>
              <c:numCache>
                <c:formatCode>0</c:formatCode>
                <c:ptCount val="4"/>
                <c:pt idx="0">
                  <c:v>501239.89080000052</c:v>
                </c:pt>
                <c:pt idx="1">
                  <c:v>678781.2399999979</c:v>
                </c:pt>
                <c:pt idx="2">
                  <c:v>391721.90500000032</c:v>
                </c:pt>
                <c:pt idx="3">
                  <c:v>725457.82450000057</c:v>
                </c:pt>
              </c:numCache>
            </c:numRef>
          </c:val>
          <c:extLst>
            <c:ext xmlns:c16="http://schemas.microsoft.com/office/drawing/2014/chart" uri="{C3380CC4-5D6E-409C-BE32-E72D297353CC}">
              <c16:uniqueId val="{00000001-1E02-4310-9B84-46B460287FC1}"/>
            </c:ext>
          </c:extLst>
        </c:ser>
        <c:dLbls>
          <c:dLblPos val="outEnd"/>
          <c:showLegendKey val="0"/>
          <c:showVal val="1"/>
          <c:showCatName val="0"/>
          <c:showSerName val="0"/>
          <c:showPercent val="0"/>
          <c:showBubbleSize val="0"/>
        </c:dLbls>
        <c:gapWidth val="219"/>
        <c:overlap val="-27"/>
        <c:axId val="329750991"/>
        <c:axId val="1310562095"/>
      </c:barChart>
      <c:catAx>
        <c:axId val="329750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0562095"/>
        <c:crosses val="autoZero"/>
        <c:auto val="1"/>
        <c:lblAlgn val="ctr"/>
        <c:lblOffset val="100"/>
        <c:noMultiLvlLbl val="0"/>
      </c:catAx>
      <c:valAx>
        <c:axId val="13105620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97509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 name="Shape 13"/>
        <p:cNvGrpSpPr/>
        <p:nvPr/>
      </p:nvGrpSpPr>
      <p:grpSpPr>
        <a:xfrm>
          <a:off x="0" y="0"/>
          <a:ext cx="0" cy="0"/>
          <a:chOff x="0" y="0"/>
          <a:chExt cx="0" cy="0"/>
        </a:xfrm>
      </p:grpSpPr>
      <p:sp>
        <p:nvSpPr>
          <p:cNvPr id="14" name="Google Shape;14;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8"/>
          <p:cNvSpPr txBox="1"/>
          <p:nvPr/>
        </p:nvSpPr>
        <p:spPr>
          <a:xfrm>
            <a:off x="3352800" y="6469856"/>
            <a:ext cx="4572000" cy="27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7F7F7F"/>
                </a:solidFill>
                <a:latin typeface="Calibri"/>
                <a:ea typeface="Calibri"/>
                <a:cs typeface="Calibri"/>
                <a:sym typeface="Calibri"/>
              </a:rPr>
              <a:t>© DataMites™. All Rights Reserved | www.datamites.com | IABAC® Accredited</a:t>
            </a:r>
            <a:endParaRPr b="0" i="0" sz="900" u="none" cap="none" strike="noStrike">
              <a:solidFill>
                <a:srgbClr val="7F7F7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descr="Logo&#10;&#10;Description automatically generated" id="20" name="Google Shape;20;p29"/>
          <p:cNvPicPr preferRelativeResize="0"/>
          <p:nvPr/>
        </p:nvPicPr>
        <p:blipFill rotWithShape="1">
          <a:blip r:embed="rId2">
            <a:alphaModFix/>
          </a:blip>
          <a:srcRect b="0" l="0" r="0" t="0"/>
          <a:stretch/>
        </p:blipFill>
        <p:spPr>
          <a:xfrm>
            <a:off x="9507682" y="6213764"/>
            <a:ext cx="2035301" cy="52656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0"/>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buNone/>
              <a:defRPr sz="1800">
                <a:solidFill>
                  <a:schemeClr val="dk1"/>
                </a:solidFill>
                <a:latin typeface="Calibri"/>
                <a:ea typeface="Calibri"/>
                <a:cs typeface="Calibri"/>
                <a:sym typeface="Calibri"/>
              </a:defRPr>
            </a:lvl1pPr>
            <a:lvl2pPr indent="0" lvl="1" marL="0" marR="0" rtl="0" algn="ctr">
              <a:spcBef>
                <a:spcPts val="0"/>
              </a:spcBef>
              <a:buNone/>
              <a:defRPr sz="1800">
                <a:solidFill>
                  <a:schemeClr val="dk1"/>
                </a:solidFill>
                <a:latin typeface="Calibri"/>
                <a:ea typeface="Calibri"/>
                <a:cs typeface="Calibri"/>
                <a:sym typeface="Calibri"/>
              </a:defRPr>
            </a:lvl2pPr>
            <a:lvl3pPr indent="0" lvl="2" marL="0" marR="0" rtl="0" algn="ctr">
              <a:spcBef>
                <a:spcPts val="0"/>
              </a:spcBef>
              <a:buNone/>
              <a:defRPr sz="1800">
                <a:solidFill>
                  <a:schemeClr val="dk1"/>
                </a:solidFill>
                <a:latin typeface="Calibri"/>
                <a:ea typeface="Calibri"/>
                <a:cs typeface="Calibri"/>
                <a:sym typeface="Calibri"/>
              </a:defRPr>
            </a:lvl3pPr>
            <a:lvl4pPr indent="0" lvl="3" marL="0" marR="0" rtl="0" algn="ctr">
              <a:spcBef>
                <a:spcPts val="0"/>
              </a:spcBef>
              <a:buNone/>
              <a:defRPr sz="1800">
                <a:solidFill>
                  <a:schemeClr val="dk1"/>
                </a:solidFill>
                <a:latin typeface="Calibri"/>
                <a:ea typeface="Calibri"/>
                <a:cs typeface="Calibri"/>
                <a:sym typeface="Calibri"/>
              </a:defRPr>
            </a:lvl4pPr>
            <a:lvl5pPr indent="0" lvl="4" marL="0" marR="0" rtl="0" algn="ctr">
              <a:spcBef>
                <a:spcPts val="0"/>
              </a:spcBef>
              <a:buNone/>
              <a:defRPr sz="1800">
                <a:solidFill>
                  <a:schemeClr val="dk1"/>
                </a:solidFill>
                <a:latin typeface="Calibri"/>
                <a:ea typeface="Calibri"/>
                <a:cs typeface="Calibri"/>
                <a:sym typeface="Calibri"/>
              </a:defRPr>
            </a:lvl5pPr>
            <a:lvl6pPr indent="0" lvl="5" marL="0" marR="0" rtl="0" algn="ctr">
              <a:spcBef>
                <a:spcPts val="0"/>
              </a:spcBef>
              <a:buNone/>
              <a:defRPr sz="1800">
                <a:solidFill>
                  <a:schemeClr val="dk1"/>
                </a:solidFill>
                <a:latin typeface="Calibri"/>
                <a:ea typeface="Calibri"/>
                <a:cs typeface="Calibri"/>
                <a:sym typeface="Calibri"/>
              </a:defRPr>
            </a:lvl6pPr>
            <a:lvl7pPr indent="0" lvl="6" marL="0" marR="0" rtl="0" algn="ctr">
              <a:spcBef>
                <a:spcPts val="0"/>
              </a:spcBef>
              <a:buNone/>
              <a:defRPr sz="1800">
                <a:solidFill>
                  <a:schemeClr val="dk1"/>
                </a:solidFill>
                <a:latin typeface="Calibri"/>
                <a:ea typeface="Calibri"/>
                <a:cs typeface="Calibri"/>
                <a:sym typeface="Calibri"/>
              </a:defRPr>
            </a:lvl7pPr>
            <a:lvl8pPr indent="0" lvl="7" marL="0" marR="0" rtl="0" algn="ctr">
              <a:spcBef>
                <a:spcPts val="0"/>
              </a:spcBef>
              <a:buNone/>
              <a:defRPr sz="1800">
                <a:solidFill>
                  <a:schemeClr val="dk1"/>
                </a:solidFill>
                <a:latin typeface="Calibri"/>
                <a:ea typeface="Calibri"/>
                <a:cs typeface="Calibri"/>
                <a:sym typeface="Calibri"/>
              </a:defRPr>
            </a:lvl8pPr>
            <a:lvl9pPr indent="0" lvl="8" marL="0" marR="0" rtl="0" algn="ctr">
              <a:spcBef>
                <a:spcPts val="0"/>
              </a:spcBef>
              <a:buNone/>
              <a:defRPr sz="1800">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pic>
        <p:nvPicPr>
          <p:cNvPr descr="Logo&#10;&#10;Description automatically generated" id="25" name="Google Shape;25;p30"/>
          <p:cNvPicPr preferRelativeResize="0"/>
          <p:nvPr/>
        </p:nvPicPr>
        <p:blipFill rotWithShape="1">
          <a:blip r:embed="rId2">
            <a:alphaModFix/>
          </a:blip>
          <a:srcRect b="0" l="0" r="0" t="0"/>
          <a:stretch/>
        </p:blipFill>
        <p:spPr>
          <a:xfrm>
            <a:off x="9559636" y="6492874"/>
            <a:ext cx="1246909" cy="32259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1"/>
          <p:cNvSpPr txBox="1"/>
          <p:nvPr>
            <p:ph idx="11" type="ftr"/>
          </p:nvPr>
        </p:nvSpPr>
        <p:spPr>
          <a:xfrm>
            <a:off x="4038600" y="6567054"/>
            <a:ext cx="4114800" cy="13779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31"/>
          <p:cNvSpPr txBox="1"/>
          <p:nvPr>
            <p:ph idx="12" type="sldNum"/>
          </p:nvPr>
        </p:nvSpPr>
        <p:spPr>
          <a:xfrm>
            <a:off x="10947862" y="6356350"/>
            <a:ext cx="573578"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 name="Shape 30"/>
        <p:cNvGrpSpPr/>
        <p:nvPr/>
      </p:nvGrpSpPr>
      <p:grpSpPr>
        <a:xfrm>
          <a:off x="0" y="0"/>
          <a:ext cx="0" cy="0"/>
          <a:chOff x="0" y="0"/>
          <a:chExt cx="0" cy="0"/>
        </a:xfrm>
      </p:grpSpPr>
      <p:sp>
        <p:nvSpPr>
          <p:cNvPr id="31" name="Google Shape;31;p32"/>
          <p:cNvSpPr txBox="1"/>
          <p:nvPr>
            <p:ph idx="11" type="ftr"/>
          </p:nvPr>
        </p:nvSpPr>
        <p:spPr>
          <a:xfrm>
            <a:off x="4038600" y="6567054"/>
            <a:ext cx="4114800" cy="13779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32"/>
          <p:cNvSpPr txBox="1"/>
          <p:nvPr>
            <p:ph idx="12" type="sldNum"/>
          </p:nvPr>
        </p:nvSpPr>
        <p:spPr>
          <a:xfrm>
            <a:off x="10947862" y="6356350"/>
            <a:ext cx="573578"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nvSpPr>
        <p:spPr>
          <a:xfrm>
            <a:off x="3581400" y="6469856"/>
            <a:ext cx="4572000" cy="27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900" u="none" cap="none" strike="noStrike">
                <a:solidFill>
                  <a:srgbClr val="7F7F7F"/>
                </a:solidFill>
                <a:latin typeface="Calibri"/>
                <a:ea typeface="Calibri"/>
                <a:cs typeface="Calibri"/>
                <a:sym typeface="Calibri"/>
              </a:rPr>
              <a:t>© DataMites™. All Rights Reserved | www.datamites.com | IABAC® Accredited</a:t>
            </a:r>
            <a:endParaRPr b="0" i="0" sz="900" u="none" cap="none" strike="noStrike">
              <a:solidFill>
                <a:srgbClr val="7F7F7F"/>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jpg"/><Relationship Id="rId4" Type="http://schemas.openxmlformats.org/officeDocument/2006/relationships/image" Target="../media/image18.png"/><Relationship Id="rId5" Type="http://schemas.openxmlformats.org/officeDocument/2006/relationships/hyperlink" Target="mailto:care@datamites.com" TargetMode="External"/><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sz="6400"/>
              <a:t>Data Analysis Associate</a:t>
            </a:r>
            <a:endParaRPr sz="6400"/>
          </a:p>
        </p:txBody>
      </p:sp>
      <p:pic>
        <p:nvPicPr>
          <p:cNvPr descr="Logo&#10;&#10;Description automatically generated" id="38" name="Google Shape;38;p1"/>
          <p:cNvPicPr preferRelativeResize="0"/>
          <p:nvPr/>
        </p:nvPicPr>
        <p:blipFill rotWithShape="1">
          <a:blip r:embed="rId3">
            <a:alphaModFix/>
          </a:blip>
          <a:srcRect b="0" l="0" r="0" t="0"/>
          <a:stretch/>
        </p:blipFill>
        <p:spPr>
          <a:xfrm>
            <a:off x="6096000" y="4783017"/>
            <a:ext cx="1376143" cy="1381647"/>
          </a:xfrm>
          <a:prstGeom prst="rect">
            <a:avLst/>
          </a:prstGeom>
          <a:noFill/>
          <a:ln>
            <a:noFill/>
          </a:ln>
        </p:spPr>
      </p:pic>
      <p:sp>
        <p:nvSpPr>
          <p:cNvPr id="39" name="Google Shape;39;p1"/>
          <p:cNvSpPr txBox="1"/>
          <p:nvPr/>
        </p:nvSpPr>
        <p:spPr>
          <a:xfrm>
            <a:off x="4481565" y="5316118"/>
            <a:ext cx="15229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Accredited by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 name="Shape 43"/>
        <p:cNvGrpSpPr/>
        <p:nvPr/>
      </p:nvGrpSpPr>
      <p:grpSpPr>
        <a:xfrm>
          <a:off x="0" y="0"/>
          <a:ext cx="0" cy="0"/>
          <a:chOff x="0" y="0"/>
          <a:chExt cx="0" cy="0"/>
        </a:xfrm>
      </p:grpSpPr>
      <p:sp>
        <p:nvSpPr>
          <p:cNvPr id="44" name="Google Shape;4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 name="Google Shape;45;p2"/>
          <p:cNvSpPr txBox="1"/>
          <p:nvPr>
            <p:ph type="title"/>
          </p:nvPr>
        </p:nvSpPr>
        <p:spPr>
          <a:xfrm>
            <a:off x="838199" y="1093788"/>
            <a:ext cx="10506455" cy="29672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8000"/>
              <a:buFont typeface="Calibri"/>
              <a:buNone/>
            </a:pPr>
            <a:r>
              <a:rPr lang="en-US" sz="8000">
                <a:solidFill>
                  <a:schemeClr val="dk1"/>
                </a:solidFill>
                <a:latin typeface="Calibri"/>
                <a:ea typeface="Calibri"/>
                <a:cs typeface="Calibri"/>
                <a:sym typeface="Calibri"/>
              </a:rPr>
              <a:t>Bi-variate Analysis</a:t>
            </a:r>
            <a:endParaRPr/>
          </a:p>
        </p:txBody>
      </p:sp>
      <p:sp>
        <p:nvSpPr>
          <p:cNvPr id="46" name="Google Shape;46;p2"/>
          <p:cNvSpPr txBox="1"/>
          <p:nvPr>
            <p:ph idx="1" type="body"/>
          </p:nvPr>
        </p:nvSpPr>
        <p:spPr>
          <a:xfrm>
            <a:off x="7400924" y="4619624"/>
            <a:ext cx="3946779" cy="1038225"/>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888888"/>
              </a:buClr>
              <a:buSzPts val="2400"/>
              <a:buNone/>
            </a:pPr>
            <a:r>
              <a:t/>
            </a:r>
            <a:endParaRPr sz="2400">
              <a:solidFill>
                <a:schemeClr val="dk1"/>
              </a:solidFill>
              <a:latin typeface="Calibri"/>
              <a:ea typeface="Calibri"/>
              <a:cs typeface="Calibri"/>
              <a:sym typeface="Calibri"/>
            </a:endParaRPr>
          </a:p>
        </p:txBody>
      </p:sp>
      <p:sp>
        <p:nvSpPr>
          <p:cNvPr id="47" name="Google Shape;47;p2"/>
          <p:cNvSpPr/>
          <p:nvPr/>
        </p:nvSpPr>
        <p:spPr>
          <a:xfrm>
            <a:off x="841248" y="4331166"/>
            <a:ext cx="10506456"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 name="Google Shape;48;p2"/>
          <p:cNvSpPr/>
          <p:nvPr/>
        </p:nvSpPr>
        <p:spPr>
          <a:xfrm rot="5400000">
            <a:off x="9346882" y="2348839"/>
            <a:ext cx="54864" cy="394677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 name="Google Shape;4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rgbClr val="7F7F7F"/>
                </a:solidFill>
                <a:latin typeface="Calibri"/>
                <a:ea typeface="Calibri"/>
                <a:cs typeface="Calibri"/>
                <a:sym typeface="Calibri"/>
              </a:rPr>
              <a:t>‹#›</a:t>
            </a:fld>
            <a:endParaRPr sz="1200">
              <a:solidFill>
                <a:srgbClr val="7F7F7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3"/>
          <p:cNvSpPr txBox="1"/>
          <p:nvPr>
            <p:ph type="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600"/>
              <a:buFont typeface="Calibri"/>
              <a:buNone/>
            </a:pPr>
            <a:r>
              <a:rPr lang="en-US" sz="4600"/>
              <a:t>Types of Bivariate Analysis</a:t>
            </a:r>
            <a:endParaRPr/>
          </a:p>
        </p:txBody>
      </p:sp>
      <p:sp>
        <p:nvSpPr>
          <p:cNvPr id="56" name="Google Shape;56;p3"/>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3"/>
          <p:cNvSpPr txBox="1"/>
          <p:nvPr>
            <p:ph idx="1" type="body"/>
          </p:nvPr>
        </p:nvSpPr>
        <p:spPr>
          <a:xfrm>
            <a:off x="640080" y="2872899"/>
            <a:ext cx="11093116" cy="33206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400"/>
              <a:buFont typeface="Arial"/>
              <a:buChar char="•"/>
            </a:pPr>
            <a:r>
              <a:rPr b="0" i="0" lang="en-US" sz="2400">
                <a:solidFill>
                  <a:srgbClr val="374151"/>
                </a:solidFill>
              </a:rPr>
              <a:t>Continuous-Continuous: </a:t>
            </a:r>
            <a:r>
              <a:rPr lang="en-US" sz="2400">
                <a:solidFill>
                  <a:srgbClr val="374151"/>
                </a:solidFill>
              </a:rPr>
              <a:t>A</a:t>
            </a:r>
            <a:r>
              <a:rPr b="0" i="0" lang="en-US" sz="2400">
                <a:solidFill>
                  <a:srgbClr val="374151"/>
                </a:solidFill>
              </a:rPr>
              <a:t>nalyzing the relationship between two continuous variables, typically done using correlation or regression analysis.</a:t>
            </a:r>
            <a:endParaRPr/>
          </a:p>
          <a:p>
            <a:pPr indent="-76200" lvl="0" marL="228600" rtl="0" algn="l">
              <a:lnSpc>
                <a:spcPct val="90000"/>
              </a:lnSpc>
              <a:spcBef>
                <a:spcPts val="1000"/>
              </a:spcBef>
              <a:spcAft>
                <a:spcPts val="0"/>
              </a:spcAft>
              <a:buClr>
                <a:schemeClr val="dk1"/>
              </a:buClr>
              <a:buSzPts val="2400"/>
              <a:buFont typeface="Arial"/>
              <a:buNone/>
            </a:pPr>
            <a:r>
              <a:t/>
            </a:r>
            <a:endParaRPr b="0" i="0" sz="2400">
              <a:solidFill>
                <a:srgbClr val="374151"/>
              </a:solidFill>
            </a:endParaRPr>
          </a:p>
          <a:p>
            <a:pPr indent="-228600" lvl="0" marL="228600" rtl="0" algn="l">
              <a:lnSpc>
                <a:spcPct val="90000"/>
              </a:lnSpc>
              <a:spcBef>
                <a:spcPts val="1000"/>
              </a:spcBef>
              <a:spcAft>
                <a:spcPts val="0"/>
              </a:spcAft>
              <a:buClr>
                <a:srgbClr val="374151"/>
              </a:buClr>
              <a:buSzPts val="2400"/>
              <a:buFont typeface="Arial"/>
              <a:buChar char="•"/>
            </a:pPr>
            <a:r>
              <a:rPr b="0" i="0" lang="en-US" sz="2400">
                <a:solidFill>
                  <a:srgbClr val="374151"/>
                </a:solidFill>
              </a:rPr>
              <a:t>Categorical-Categorical: Analyzing the association between two categorical variables using techniques like contingency tables or chi-squared tests.</a:t>
            </a:r>
            <a:endParaRPr/>
          </a:p>
          <a:p>
            <a:pPr indent="-76200" lvl="0" marL="228600" rtl="0" algn="l">
              <a:lnSpc>
                <a:spcPct val="90000"/>
              </a:lnSpc>
              <a:spcBef>
                <a:spcPts val="1000"/>
              </a:spcBef>
              <a:spcAft>
                <a:spcPts val="0"/>
              </a:spcAft>
              <a:buClr>
                <a:schemeClr val="dk1"/>
              </a:buClr>
              <a:buSzPts val="2400"/>
              <a:buFont typeface="Arial"/>
              <a:buNone/>
            </a:pPr>
            <a:r>
              <a:t/>
            </a:r>
            <a:endParaRPr b="0" i="0" sz="2400">
              <a:solidFill>
                <a:srgbClr val="374151"/>
              </a:solidFill>
            </a:endParaRPr>
          </a:p>
          <a:p>
            <a:pPr indent="-228600" lvl="0" marL="228600" rtl="0" algn="l">
              <a:lnSpc>
                <a:spcPct val="90000"/>
              </a:lnSpc>
              <a:spcBef>
                <a:spcPts val="1000"/>
              </a:spcBef>
              <a:spcAft>
                <a:spcPts val="0"/>
              </a:spcAft>
              <a:buClr>
                <a:srgbClr val="374151"/>
              </a:buClr>
              <a:buSzPts val="2400"/>
              <a:buFont typeface="Arial"/>
              <a:buChar char="•"/>
            </a:pPr>
            <a:r>
              <a:rPr b="0" i="0" lang="en-US" sz="2400">
                <a:solidFill>
                  <a:srgbClr val="374151"/>
                </a:solidFill>
              </a:rPr>
              <a:t>Continuous-Categorical: Examining the impact of a continuous variable on a categorical variable using methods such as t-tests or ANOVA.</a:t>
            </a:r>
            <a:endParaRPr/>
          </a:p>
        </p:txBody>
      </p:sp>
      <p:sp>
        <p:nvSpPr>
          <p:cNvPr id="58" name="Google Shape;58;p3"/>
          <p:cNvSpPr txBox="1"/>
          <p:nvPr>
            <p:ph idx="11" type="ftr"/>
          </p:nvPr>
        </p:nvSpPr>
        <p:spPr>
          <a:xfrm>
            <a:off x="6248400" y="6356350"/>
            <a:ext cx="411480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rgbClr val="FFFFFF"/>
                </a:solidFill>
              </a:rPr>
              <a:t>© DataMites®. All rights reserved</a:t>
            </a:r>
            <a:endParaRPr/>
          </a:p>
        </p:txBody>
      </p:sp>
      <p:sp>
        <p:nvSpPr>
          <p:cNvPr id="59" name="Google Shape;59;p3"/>
          <p:cNvSpPr txBox="1"/>
          <p:nvPr>
            <p:ph idx="12" type="sldNum"/>
          </p:nvPr>
        </p:nvSpPr>
        <p:spPr>
          <a:xfrm>
            <a:off x="10439400" y="6356350"/>
            <a:ext cx="9144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 name="Google Shape;65;p4"/>
          <p:cNvSpPr txBox="1"/>
          <p:nvPr>
            <p:ph type="title"/>
          </p:nvPr>
        </p:nvSpPr>
        <p:spPr>
          <a:xfrm>
            <a:off x="640079" y="325369"/>
            <a:ext cx="5163955" cy="195684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600"/>
              <a:t>Bivariate Analysis:  </a:t>
            </a:r>
            <a:r>
              <a:rPr b="0" i="0" lang="en-US" sz="4800"/>
              <a:t>Continuous &amp; Continuous</a:t>
            </a:r>
            <a:endParaRPr sz="4600"/>
          </a:p>
        </p:txBody>
      </p:sp>
      <p:sp>
        <p:nvSpPr>
          <p:cNvPr id="66" name="Google Shape;66;p4"/>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4"/>
          <p:cNvSpPr txBox="1"/>
          <p:nvPr>
            <p:ph idx="1" type="body"/>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t>Some of the common types of bivariate analysis include:</a:t>
            </a:r>
            <a:endParaRPr/>
          </a:p>
          <a:p>
            <a:pPr indent="-228600" lvl="0" marL="228600" rtl="0" algn="l">
              <a:lnSpc>
                <a:spcPct val="90000"/>
              </a:lnSpc>
              <a:spcBef>
                <a:spcPts val="1800"/>
              </a:spcBef>
              <a:spcAft>
                <a:spcPts val="0"/>
              </a:spcAft>
              <a:buClr>
                <a:schemeClr val="dk1"/>
              </a:buClr>
              <a:buSzPts val="2200"/>
              <a:buChar char="•"/>
            </a:pPr>
            <a:r>
              <a:rPr lang="en-US" sz="2200"/>
              <a:t>Scatter Plots</a:t>
            </a:r>
            <a:endParaRPr/>
          </a:p>
          <a:p>
            <a:pPr indent="-228600" lvl="0" marL="228600" rtl="0" algn="l">
              <a:lnSpc>
                <a:spcPct val="90000"/>
              </a:lnSpc>
              <a:spcBef>
                <a:spcPts val="1800"/>
              </a:spcBef>
              <a:spcAft>
                <a:spcPts val="0"/>
              </a:spcAft>
              <a:buClr>
                <a:schemeClr val="dk1"/>
              </a:buClr>
              <a:buSzPts val="2200"/>
              <a:buChar char="•"/>
            </a:pPr>
            <a:r>
              <a:rPr lang="en-US" sz="2200"/>
              <a:t>Regression Analysis</a:t>
            </a:r>
            <a:endParaRPr/>
          </a:p>
          <a:p>
            <a:pPr indent="-228600" lvl="0" marL="228600" rtl="0" algn="l">
              <a:lnSpc>
                <a:spcPct val="90000"/>
              </a:lnSpc>
              <a:spcBef>
                <a:spcPts val="1800"/>
              </a:spcBef>
              <a:spcAft>
                <a:spcPts val="0"/>
              </a:spcAft>
              <a:buClr>
                <a:schemeClr val="dk1"/>
              </a:buClr>
              <a:buSzPts val="2200"/>
              <a:buChar char="•"/>
            </a:pPr>
            <a:r>
              <a:rPr lang="en-US" sz="2200"/>
              <a:t>Correlation Coefficients</a:t>
            </a:r>
            <a:endParaRPr/>
          </a:p>
          <a:p>
            <a:pPr indent="0" lvl="0" marL="228600" rtl="0" algn="l">
              <a:lnSpc>
                <a:spcPct val="90000"/>
              </a:lnSpc>
              <a:spcBef>
                <a:spcPts val="1800"/>
              </a:spcBef>
              <a:spcAft>
                <a:spcPts val="0"/>
              </a:spcAft>
              <a:buNone/>
            </a:pPr>
            <a:r>
              <a:t/>
            </a:r>
            <a:endParaRPr/>
          </a:p>
        </p:txBody>
      </p:sp>
      <p:pic>
        <p:nvPicPr>
          <p:cNvPr descr="Magnifying glass showing decling performance" id="68" name="Google Shape;68;p4"/>
          <p:cNvPicPr preferRelativeResize="0"/>
          <p:nvPr/>
        </p:nvPicPr>
        <p:blipFill rotWithShape="1">
          <a:blip r:embed="rId3">
            <a:alphaModFix/>
          </a:blip>
          <a:srcRect b="-1" l="1242" r="31804"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69" name="Google Shape;69;p4"/>
          <p:cNvSpPr txBox="1"/>
          <p:nvPr>
            <p:ph idx="12" type="sldNum"/>
          </p:nvPr>
        </p:nvSpPr>
        <p:spPr>
          <a:xfrm>
            <a:off x="10439400" y="6356350"/>
            <a:ext cx="9144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 name="Google Shape;75;p5"/>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Scatter Plots</a:t>
            </a:r>
            <a:endParaRPr/>
          </a:p>
        </p:txBody>
      </p:sp>
      <p:sp>
        <p:nvSpPr>
          <p:cNvPr id="76" name="Google Shape;76;p5"/>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 name="Google Shape;77;p5"/>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t>Scatterplot provides you with a visual idea of the pattern that your variables follow.</a:t>
            </a:r>
            <a:endParaRPr/>
          </a:p>
          <a:p>
            <a:pPr indent="-88900" lvl="0" marL="228600" rtl="0" algn="l">
              <a:lnSpc>
                <a:spcPct val="90000"/>
              </a:lnSpc>
              <a:spcBef>
                <a:spcPts val="1000"/>
              </a:spcBef>
              <a:spcAft>
                <a:spcPts val="0"/>
              </a:spcAft>
              <a:buClr>
                <a:schemeClr val="dk1"/>
              </a:buClr>
              <a:buSzPts val="2200"/>
              <a:buNone/>
            </a:pPr>
            <a:r>
              <a:t/>
            </a:r>
            <a:endParaRPr sz="2200"/>
          </a:p>
        </p:txBody>
      </p:sp>
      <p:pic>
        <p:nvPicPr>
          <p:cNvPr descr="Scatter plot | NZ Maths" id="78" name="Google Shape;78;p5"/>
          <p:cNvPicPr preferRelativeResize="0"/>
          <p:nvPr/>
        </p:nvPicPr>
        <p:blipFill rotWithShape="1">
          <a:blip r:embed="rId3">
            <a:alphaModFix/>
          </a:blip>
          <a:srcRect b="0" l="0" r="0" t="0"/>
          <a:stretch/>
        </p:blipFill>
        <p:spPr>
          <a:xfrm>
            <a:off x="2601487" y="2290936"/>
            <a:ext cx="6976834" cy="3959352"/>
          </a:xfrm>
          <a:prstGeom prst="rect">
            <a:avLst/>
          </a:prstGeom>
          <a:noFill/>
          <a:ln>
            <a:noFill/>
          </a:ln>
        </p:spPr>
      </p:pic>
      <p:sp>
        <p:nvSpPr>
          <p:cNvPr id="79" name="Google Shape;79;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6"/>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Correlation Coefficients</a:t>
            </a:r>
            <a:endParaRPr/>
          </a:p>
        </p:txBody>
      </p:sp>
      <p:sp>
        <p:nvSpPr>
          <p:cNvPr id="86" name="Google Shape;86;p6"/>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6"/>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t>Calculation of values for correlation coefficients are performed using a computer, although here, you can find the steps to find the correlation coefficient by hand. This coefficient acknowledges you if the variables are related.</a:t>
            </a:r>
            <a:endParaRPr/>
          </a:p>
        </p:txBody>
      </p:sp>
      <p:pic>
        <p:nvPicPr>
          <p:cNvPr descr="Correlation Analysis - Market Research" id="88" name="Google Shape;88;p6"/>
          <p:cNvPicPr preferRelativeResize="0"/>
          <p:nvPr/>
        </p:nvPicPr>
        <p:blipFill rotWithShape="1">
          <a:blip r:embed="rId3">
            <a:alphaModFix/>
          </a:blip>
          <a:srcRect b="0" l="0" r="0" t="0"/>
          <a:stretch/>
        </p:blipFill>
        <p:spPr>
          <a:xfrm>
            <a:off x="1884460" y="2290936"/>
            <a:ext cx="8410888" cy="3959352"/>
          </a:xfrm>
          <a:prstGeom prst="rect">
            <a:avLst/>
          </a:prstGeom>
          <a:noFill/>
          <a:ln>
            <a:noFill/>
          </a:ln>
        </p:spPr>
      </p:pic>
      <p:sp>
        <p:nvSpPr>
          <p:cNvPr id="89" name="Google Shape;89;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7"/>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Regression Analysis</a:t>
            </a:r>
            <a:endParaRPr/>
          </a:p>
        </p:txBody>
      </p:sp>
      <p:sp>
        <p:nvSpPr>
          <p:cNvPr id="96" name="Google Shape;96;p7"/>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7"/>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Regression analysis is a catch-all term for a wide variety of tools that can be used to determine how your data points might be related. The points in the image above seem like they could follow an exponential curve (as opposed to a straight line). </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descr="Linear regression analysis in Excel" id="98" name="Google Shape;98;p7"/>
          <p:cNvPicPr preferRelativeResize="0"/>
          <p:nvPr/>
        </p:nvPicPr>
        <p:blipFill rotWithShape="1">
          <a:blip r:embed="rId3">
            <a:alphaModFix/>
          </a:blip>
          <a:srcRect b="0" l="0" r="0" t="0"/>
          <a:stretch/>
        </p:blipFill>
        <p:spPr>
          <a:xfrm>
            <a:off x="2702458" y="2290936"/>
            <a:ext cx="6774891" cy="3959352"/>
          </a:xfrm>
          <a:prstGeom prst="rect">
            <a:avLst/>
          </a:prstGeom>
          <a:noFill/>
          <a:ln>
            <a:noFill/>
          </a:ln>
        </p:spPr>
      </p:pic>
      <p:sp>
        <p:nvSpPr>
          <p:cNvPr id="99" name="Google Shape;99;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8"/>
          <p:cNvSpPr txBox="1"/>
          <p:nvPr>
            <p:ph type="title"/>
          </p:nvPr>
        </p:nvSpPr>
        <p:spPr>
          <a:xfrm>
            <a:off x="640079" y="325369"/>
            <a:ext cx="5163955" cy="195684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600"/>
              <a:t>Bivariate Analysis:  </a:t>
            </a:r>
            <a:r>
              <a:rPr lang="en-US" sz="4800"/>
              <a:t>Categorical</a:t>
            </a:r>
            <a:r>
              <a:rPr b="0" i="0" lang="en-US" sz="4800"/>
              <a:t> &amp; Continuous</a:t>
            </a:r>
            <a:endParaRPr sz="4600"/>
          </a:p>
        </p:txBody>
      </p:sp>
      <p:sp>
        <p:nvSpPr>
          <p:cNvPr id="106" name="Google Shape;106;p8"/>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 name="Google Shape;107;p8"/>
          <p:cNvSpPr txBox="1"/>
          <p:nvPr>
            <p:ph idx="1" type="body"/>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None/>
            </a:pPr>
            <a:r>
              <a:t/>
            </a:r>
            <a:endParaRPr sz="2400"/>
          </a:p>
          <a:p>
            <a:pPr indent="0" lvl="0" marL="228600" rtl="0" algn="l">
              <a:lnSpc>
                <a:spcPct val="90000"/>
              </a:lnSpc>
              <a:spcBef>
                <a:spcPts val="1800"/>
              </a:spcBef>
              <a:spcAft>
                <a:spcPts val="0"/>
              </a:spcAft>
              <a:buNone/>
            </a:pPr>
            <a:r>
              <a:t/>
            </a:r>
            <a:endParaRPr/>
          </a:p>
          <a:p>
            <a:pPr indent="-228600" lvl="0" marL="228600" rtl="0" algn="l">
              <a:lnSpc>
                <a:spcPct val="90000"/>
              </a:lnSpc>
              <a:spcBef>
                <a:spcPts val="1800"/>
              </a:spcBef>
              <a:spcAft>
                <a:spcPts val="0"/>
              </a:spcAft>
              <a:buClr>
                <a:schemeClr val="dk1"/>
              </a:buClr>
              <a:buSzPts val="2800"/>
              <a:buChar char="•"/>
            </a:pPr>
            <a:r>
              <a:rPr lang="en-US"/>
              <a:t>T-Test </a:t>
            </a:r>
            <a:endParaRPr/>
          </a:p>
          <a:p>
            <a:pPr indent="-228600" lvl="0" marL="228600" rtl="0" algn="l">
              <a:lnSpc>
                <a:spcPct val="90000"/>
              </a:lnSpc>
              <a:spcBef>
                <a:spcPts val="1800"/>
              </a:spcBef>
              <a:spcAft>
                <a:spcPts val="0"/>
              </a:spcAft>
              <a:buClr>
                <a:schemeClr val="dk1"/>
              </a:buClr>
              <a:buSzPts val="2800"/>
              <a:buChar char="•"/>
            </a:pPr>
            <a:r>
              <a:rPr lang="en-US"/>
              <a:t>Anova Test</a:t>
            </a:r>
            <a:endParaRPr/>
          </a:p>
        </p:txBody>
      </p:sp>
      <p:pic>
        <p:nvPicPr>
          <p:cNvPr descr="Magnifying glass showing decling performance" id="108" name="Google Shape;108;p8"/>
          <p:cNvPicPr preferRelativeResize="0"/>
          <p:nvPr/>
        </p:nvPicPr>
        <p:blipFill rotWithShape="1">
          <a:blip r:embed="rId3">
            <a:alphaModFix/>
          </a:blip>
          <a:srcRect b="-1" l="1242" r="31804"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109" name="Google Shape;109;p8"/>
          <p:cNvSpPr txBox="1"/>
          <p:nvPr>
            <p:ph idx="12" type="sldNum"/>
          </p:nvPr>
        </p:nvSpPr>
        <p:spPr>
          <a:xfrm>
            <a:off x="10439400" y="6356350"/>
            <a:ext cx="9144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10"/>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T-Test</a:t>
            </a:r>
            <a:endParaRPr/>
          </a:p>
        </p:txBody>
      </p:sp>
      <p:sp>
        <p:nvSpPr>
          <p:cNvPr id="116" name="Google Shape;116;p10"/>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10"/>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Determines the impact of a continuous variable on a categorical variable. It is basically used to compare two groups, if they are significantly.</a:t>
            </a:r>
            <a:endParaRPr/>
          </a:p>
        </p:txBody>
      </p:sp>
      <p:sp>
        <p:nvSpPr>
          <p:cNvPr id="118" name="Google Shape;11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11"/>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Anova Test</a:t>
            </a:r>
            <a:endParaRPr/>
          </a:p>
        </p:txBody>
      </p:sp>
      <p:sp>
        <p:nvSpPr>
          <p:cNvPr id="125" name="Google Shape;125;p11"/>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11"/>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Determines the impact of a continuous variable on a categorical variable. It is basically used to compare more than two groups.</a:t>
            </a:r>
            <a:endParaRPr/>
          </a:p>
        </p:txBody>
      </p:sp>
      <p:sp>
        <p:nvSpPr>
          <p:cNvPr id="127" name="Google Shape;127;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1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12"/>
          <p:cNvSpPr txBox="1"/>
          <p:nvPr>
            <p:ph type="title"/>
          </p:nvPr>
        </p:nvSpPr>
        <p:spPr>
          <a:xfrm>
            <a:off x="640079" y="325369"/>
            <a:ext cx="5163955" cy="195684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600"/>
              <a:t>Bivariate Analysis:  </a:t>
            </a:r>
            <a:r>
              <a:rPr lang="en-US" sz="4800"/>
              <a:t>Categorical</a:t>
            </a:r>
            <a:r>
              <a:rPr b="0" i="0" lang="en-US" sz="4800"/>
              <a:t> &amp; Categorical</a:t>
            </a:r>
            <a:endParaRPr sz="4600"/>
          </a:p>
        </p:txBody>
      </p:sp>
      <p:sp>
        <p:nvSpPr>
          <p:cNvPr id="134" name="Google Shape;134;p12"/>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 name="Google Shape;135;p12"/>
          <p:cNvSpPr txBox="1"/>
          <p:nvPr>
            <p:ph idx="1" type="body"/>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None/>
            </a:pPr>
            <a:r>
              <a:t/>
            </a:r>
            <a:endParaRPr sz="2400"/>
          </a:p>
          <a:p>
            <a:pPr indent="-228600" lvl="0" marL="228600" rtl="0" algn="l">
              <a:lnSpc>
                <a:spcPct val="90000"/>
              </a:lnSpc>
              <a:spcBef>
                <a:spcPts val="1800"/>
              </a:spcBef>
              <a:spcAft>
                <a:spcPts val="0"/>
              </a:spcAft>
              <a:buClr>
                <a:schemeClr val="dk1"/>
              </a:buClr>
              <a:buSzPts val="2800"/>
              <a:buChar char="•"/>
            </a:pPr>
            <a:r>
              <a:rPr lang="en-US"/>
              <a:t>Chi-Square Test </a:t>
            </a:r>
            <a:endParaRPr/>
          </a:p>
          <a:p>
            <a:pPr indent="0" lvl="0" marL="0" rtl="0" algn="l">
              <a:lnSpc>
                <a:spcPct val="90000"/>
              </a:lnSpc>
              <a:spcBef>
                <a:spcPts val="1800"/>
              </a:spcBef>
              <a:spcAft>
                <a:spcPts val="0"/>
              </a:spcAft>
              <a:buClr>
                <a:schemeClr val="dk1"/>
              </a:buClr>
              <a:buSzPts val="2800"/>
              <a:buNone/>
            </a:pPr>
            <a:r>
              <a:t/>
            </a:r>
            <a:endParaRPr/>
          </a:p>
        </p:txBody>
      </p:sp>
      <p:pic>
        <p:nvPicPr>
          <p:cNvPr descr="Magnifying glass showing decling performance" id="136" name="Google Shape;136;p12"/>
          <p:cNvPicPr preferRelativeResize="0"/>
          <p:nvPr/>
        </p:nvPicPr>
        <p:blipFill rotWithShape="1">
          <a:blip r:embed="rId3">
            <a:alphaModFix/>
          </a:blip>
          <a:srcRect b="-1" l="1242" r="31804"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137" name="Google Shape;137;p12"/>
          <p:cNvSpPr txBox="1"/>
          <p:nvPr>
            <p:ph idx="12" type="sldNum"/>
          </p:nvPr>
        </p:nvSpPr>
        <p:spPr>
          <a:xfrm>
            <a:off x="10439400" y="6356350"/>
            <a:ext cx="9144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13"/>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Chi-Square Test</a:t>
            </a:r>
            <a:endParaRPr/>
          </a:p>
        </p:txBody>
      </p:sp>
      <p:sp>
        <p:nvSpPr>
          <p:cNvPr id="144" name="Google Shape;144;p13"/>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13"/>
          <p:cNvSpPr txBox="1"/>
          <p:nvPr>
            <p:ph idx="1" type="body"/>
          </p:nvPr>
        </p:nvSpPr>
        <p:spPr>
          <a:xfrm>
            <a:off x="4636006" y="693018"/>
            <a:ext cx="6912865" cy="12729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74151"/>
              </a:buClr>
              <a:buSzPts val="2000"/>
              <a:buNone/>
            </a:pPr>
            <a:r>
              <a:rPr lang="en-US" sz="2000">
                <a:solidFill>
                  <a:srgbClr val="374151"/>
                </a:solidFill>
              </a:rPr>
              <a:t>I</a:t>
            </a:r>
            <a:r>
              <a:rPr b="0" i="0" lang="en-US" sz="2000">
                <a:solidFill>
                  <a:srgbClr val="374151"/>
                </a:solidFill>
              </a:rPr>
              <a:t>t is used to determine whether the association between two categorical variables is statistically significant or not.</a:t>
            </a:r>
            <a:endParaRPr sz="2000"/>
          </a:p>
        </p:txBody>
      </p:sp>
      <p:sp>
        <p:nvSpPr>
          <p:cNvPr id="146" name="Google Shape;146;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id="147" name="Google Shape;147;p13"/>
          <p:cNvPicPr preferRelativeResize="0"/>
          <p:nvPr/>
        </p:nvPicPr>
        <p:blipFill rotWithShape="1">
          <a:blip r:embed="rId3">
            <a:alphaModFix/>
          </a:blip>
          <a:srcRect b="0" l="0" r="0" t="0"/>
          <a:stretch/>
        </p:blipFill>
        <p:spPr>
          <a:xfrm>
            <a:off x="355399" y="2212291"/>
            <a:ext cx="3997144" cy="3142648"/>
          </a:xfrm>
          <a:prstGeom prst="rect">
            <a:avLst/>
          </a:prstGeom>
          <a:noFill/>
          <a:ln>
            <a:noFill/>
          </a:ln>
        </p:spPr>
      </p:pic>
      <p:pic>
        <p:nvPicPr>
          <p:cNvPr id="148" name="Google Shape;148;p13"/>
          <p:cNvPicPr preferRelativeResize="0"/>
          <p:nvPr/>
        </p:nvPicPr>
        <p:blipFill rotWithShape="1">
          <a:blip r:embed="rId4">
            <a:alphaModFix/>
          </a:blip>
          <a:srcRect b="0" l="0" r="0" t="0"/>
          <a:stretch/>
        </p:blipFill>
        <p:spPr>
          <a:xfrm>
            <a:off x="4511593" y="2212291"/>
            <a:ext cx="3168813" cy="180093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Time Series Data</a:t>
            </a:r>
            <a:endParaRPr/>
          </a:p>
        </p:txBody>
      </p:sp>
      <p:sp>
        <p:nvSpPr>
          <p:cNvPr id="154" name="Google Shape;154;p14"/>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273239"/>
              </a:buClr>
              <a:buSzPts val="2400"/>
              <a:buChar char="•"/>
            </a:pPr>
            <a:r>
              <a:rPr b="0" i="0" lang="en-US" sz="2400">
                <a:solidFill>
                  <a:srgbClr val="273239"/>
                </a:solidFill>
              </a:rPr>
              <a:t>Time series data is a sequence of data points that measure some variable over ordered period of time. It helps to understand and forecast data patterns. It is important to look for the pattern or components in a Time Series data such as Trend, Seasonality etc.</a:t>
            </a:r>
            <a:endParaRPr/>
          </a:p>
          <a:p>
            <a:pPr indent="-228600" lvl="0" marL="228600" rtl="0" algn="l">
              <a:lnSpc>
                <a:spcPct val="200000"/>
              </a:lnSpc>
              <a:spcBef>
                <a:spcPts val="1000"/>
              </a:spcBef>
              <a:spcAft>
                <a:spcPts val="0"/>
              </a:spcAft>
              <a:buClr>
                <a:srgbClr val="273239"/>
              </a:buClr>
              <a:buSzPts val="2400"/>
              <a:buChar char="•"/>
            </a:pPr>
            <a:r>
              <a:rPr lang="en-US" sz="2400">
                <a:solidFill>
                  <a:srgbClr val="273239"/>
                </a:solidFill>
              </a:rPr>
              <a:t>Examples:  Weather Forecasting, Sales Trends, Data captured in CCTV, Stock price, etc</a:t>
            </a:r>
            <a:endParaRPr b="0" i="0" sz="2400">
              <a:solidFill>
                <a:srgbClr val="273239"/>
              </a:solidFill>
            </a:endParaRPr>
          </a:p>
          <a:p>
            <a:pPr indent="-50800" lvl="0" marL="228600" rtl="0" algn="l">
              <a:lnSpc>
                <a:spcPct val="90000"/>
              </a:lnSpc>
              <a:spcBef>
                <a:spcPts val="1000"/>
              </a:spcBef>
              <a:spcAft>
                <a:spcPts val="0"/>
              </a:spcAft>
              <a:buClr>
                <a:schemeClr val="dk1"/>
              </a:buClr>
              <a:buSzPts val="2800"/>
              <a:buNone/>
            </a:pPr>
            <a:r>
              <a:t/>
            </a:r>
            <a:endParaRPr>
              <a:solidFill>
                <a:srgbClr val="273239"/>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
        <p:nvSpPr>
          <p:cNvPr id="155" name="Google Shape;155;p14"/>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Trend Analysis</a:t>
            </a:r>
            <a:endParaRPr/>
          </a:p>
        </p:txBody>
      </p:sp>
      <p:sp>
        <p:nvSpPr>
          <p:cNvPr id="161" name="Google Shape;161;p15"/>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a:bodyPr>
          <a:lstStyle/>
          <a:p>
            <a:pPr indent="-228600" lvl="0" marL="228600" rtl="0" algn="l">
              <a:lnSpc>
                <a:spcPct val="200000"/>
              </a:lnSpc>
              <a:spcBef>
                <a:spcPts val="0"/>
              </a:spcBef>
              <a:spcAft>
                <a:spcPts val="0"/>
              </a:spcAft>
              <a:buClr>
                <a:srgbClr val="273239"/>
              </a:buClr>
              <a:buSzPts val="2400"/>
              <a:buChar char="•"/>
            </a:pPr>
            <a:r>
              <a:rPr b="1" i="0" lang="en-US" sz="2400">
                <a:solidFill>
                  <a:srgbClr val="273239"/>
                </a:solidFill>
              </a:rPr>
              <a:t>Trend </a:t>
            </a:r>
            <a:r>
              <a:rPr b="0" i="0" lang="en-US" sz="2400">
                <a:solidFill>
                  <a:srgbClr val="273239"/>
                </a:solidFill>
              </a:rPr>
              <a:t>is a pattern in data that shows the movement of a series to relatively higher or lower values over a long period of time. In other words, a trend is observed when there is an increasing or decreasing slope in the time series.</a:t>
            </a:r>
            <a:endParaRPr/>
          </a:p>
          <a:p>
            <a:pPr indent="-228600" lvl="0" marL="228600" rtl="0" algn="l">
              <a:lnSpc>
                <a:spcPct val="200000"/>
              </a:lnSpc>
              <a:spcBef>
                <a:spcPts val="1000"/>
              </a:spcBef>
              <a:spcAft>
                <a:spcPts val="0"/>
              </a:spcAft>
              <a:buClr>
                <a:srgbClr val="273239"/>
              </a:buClr>
              <a:buSzPts val="2400"/>
              <a:buChar char="•"/>
            </a:pPr>
            <a:r>
              <a:rPr lang="en-US" sz="2400">
                <a:solidFill>
                  <a:srgbClr val="273239"/>
                </a:solidFill>
              </a:rPr>
              <a:t> Hands-on – Trend Analysis for a Time Series Data.</a:t>
            </a:r>
            <a:endParaRPr/>
          </a:p>
          <a:p>
            <a:pPr indent="0" lvl="0" marL="0" rtl="0" algn="l">
              <a:lnSpc>
                <a:spcPct val="90000"/>
              </a:lnSpc>
              <a:spcBef>
                <a:spcPts val="1000"/>
              </a:spcBef>
              <a:spcAft>
                <a:spcPts val="0"/>
              </a:spcAft>
              <a:buClr>
                <a:srgbClr val="374151"/>
              </a:buClr>
              <a:buSzPts val="2400"/>
              <a:buNone/>
            </a:pPr>
            <a:r>
              <a:rPr b="1" i="0" lang="en-US" sz="2400">
                <a:solidFill>
                  <a:srgbClr val="374151"/>
                </a:solidFill>
              </a:rPr>
              <a:t>Line Chart</a:t>
            </a:r>
            <a:r>
              <a:rPr b="0" i="0" lang="en-US" sz="2400">
                <a:solidFill>
                  <a:srgbClr val="374151"/>
                </a:solidFill>
              </a:rPr>
              <a:t>:</a:t>
            </a:r>
            <a:endParaRPr/>
          </a:p>
          <a:p>
            <a:pPr indent="-228600" lvl="0" marL="228600" rtl="0" algn="l">
              <a:lnSpc>
                <a:spcPct val="90000"/>
              </a:lnSpc>
              <a:spcBef>
                <a:spcPts val="1000"/>
              </a:spcBef>
              <a:spcAft>
                <a:spcPts val="0"/>
              </a:spcAft>
              <a:buClr>
                <a:srgbClr val="374151"/>
              </a:buClr>
              <a:buSzPts val="2400"/>
              <a:buFont typeface="Arial"/>
              <a:buChar char="•"/>
            </a:pPr>
            <a:r>
              <a:rPr b="0" i="0" lang="en-US" sz="2400">
                <a:solidFill>
                  <a:srgbClr val="374151"/>
                </a:solidFill>
              </a:rPr>
              <a:t>Show how a continuous variable changes over time.</a:t>
            </a:r>
            <a:endParaRPr sz="2400">
              <a:solidFill>
                <a:srgbClr val="273239"/>
              </a:solidFill>
            </a:endParaRPr>
          </a:p>
        </p:txBody>
      </p:sp>
      <p:sp>
        <p:nvSpPr>
          <p:cNvPr id="162" name="Google Shape;162;p15"/>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b="1" lang="en-US" sz="3200"/>
              <a:t>Types of Trend</a:t>
            </a:r>
            <a:endParaRPr/>
          </a:p>
        </p:txBody>
      </p:sp>
      <p:sp>
        <p:nvSpPr>
          <p:cNvPr id="168" name="Google Shape;168;p16"/>
          <p:cNvSpPr txBox="1"/>
          <p:nvPr>
            <p:ph idx="1" type="body"/>
          </p:nvPr>
        </p:nvSpPr>
        <p:spPr>
          <a:xfrm>
            <a:off x="838200" y="1271847"/>
            <a:ext cx="5562600" cy="440614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rgbClr val="273239"/>
              </a:buClr>
              <a:buSzPts val="2000"/>
              <a:buFont typeface="Arial"/>
              <a:buChar char="•"/>
            </a:pPr>
            <a:r>
              <a:rPr b="1" i="0" lang="en-US" sz="2000">
                <a:solidFill>
                  <a:srgbClr val="273239"/>
                </a:solidFill>
              </a:rPr>
              <a:t>Upward trend:</a:t>
            </a:r>
            <a:r>
              <a:rPr b="0" i="0" lang="en-US" sz="2000">
                <a:solidFill>
                  <a:srgbClr val="273239"/>
                </a:solidFill>
              </a:rPr>
              <a:t> </a:t>
            </a:r>
            <a:endParaRPr/>
          </a:p>
          <a:p>
            <a:pPr indent="0" lvl="0" marL="0" rtl="0" algn="l">
              <a:lnSpc>
                <a:spcPct val="150000"/>
              </a:lnSpc>
              <a:spcBef>
                <a:spcPts val="1000"/>
              </a:spcBef>
              <a:spcAft>
                <a:spcPts val="0"/>
              </a:spcAft>
              <a:buClr>
                <a:srgbClr val="273239"/>
              </a:buClr>
              <a:buSzPts val="1800"/>
              <a:buNone/>
            </a:pPr>
            <a:r>
              <a:rPr lang="en-US" sz="1800">
                <a:solidFill>
                  <a:srgbClr val="273239"/>
                </a:solidFill>
              </a:rPr>
              <a:t>          </a:t>
            </a:r>
            <a:r>
              <a:rPr b="0" i="0" lang="en-US" sz="1800">
                <a:solidFill>
                  <a:srgbClr val="273239"/>
                </a:solidFill>
              </a:rPr>
              <a:t>Time Series Analysis shows a general pattern that is upward then it is Upward trend.</a:t>
            </a:r>
            <a:endParaRPr/>
          </a:p>
          <a:p>
            <a:pPr indent="-228600" lvl="0" marL="228600" rtl="0" algn="l">
              <a:lnSpc>
                <a:spcPct val="150000"/>
              </a:lnSpc>
              <a:spcBef>
                <a:spcPts val="1000"/>
              </a:spcBef>
              <a:spcAft>
                <a:spcPts val="0"/>
              </a:spcAft>
              <a:buClr>
                <a:srgbClr val="273239"/>
              </a:buClr>
              <a:buSzPts val="2000"/>
              <a:buFont typeface="Arial"/>
              <a:buChar char="•"/>
            </a:pPr>
            <a:r>
              <a:rPr b="1" i="0" lang="en-US" sz="2000">
                <a:solidFill>
                  <a:srgbClr val="273239"/>
                </a:solidFill>
              </a:rPr>
              <a:t>Downward trend:</a:t>
            </a:r>
            <a:r>
              <a:rPr b="0" i="0" lang="en-US" sz="2000">
                <a:solidFill>
                  <a:srgbClr val="273239"/>
                </a:solidFill>
              </a:rPr>
              <a:t> </a:t>
            </a:r>
            <a:endParaRPr/>
          </a:p>
          <a:p>
            <a:pPr indent="0" lvl="0" marL="0" rtl="0" algn="l">
              <a:lnSpc>
                <a:spcPct val="150000"/>
              </a:lnSpc>
              <a:spcBef>
                <a:spcPts val="1000"/>
              </a:spcBef>
              <a:spcAft>
                <a:spcPts val="0"/>
              </a:spcAft>
              <a:buClr>
                <a:srgbClr val="273239"/>
              </a:buClr>
              <a:buSzPts val="1800"/>
              <a:buNone/>
            </a:pPr>
            <a:r>
              <a:rPr lang="en-US" sz="1800">
                <a:solidFill>
                  <a:srgbClr val="273239"/>
                </a:solidFill>
              </a:rPr>
              <a:t>          </a:t>
            </a:r>
            <a:r>
              <a:rPr b="0" i="0" lang="en-US" sz="1800">
                <a:solidFill>
                  <a:srgbClr val="273239"/>
                </a:solidFill>
              </a:rPr>
              <a:t>Time Series Analysis shows a pattern that is downward then it is Downward trend.</a:t>
            </a:r>
            <a:endParaRPr/>
          </a:p>
          <a:p>
            <a:pPr indent="-228600" lvl="0" marL="228600" rtl="0" algn="l">
              <a:lnSpc>
                <a:spcPct val="150000"/>
              </a:lnSpc>
              <a:spcBef>
                <a:spcPts val="1000"/>
              </a:spcBef>
              <a:spcAft>
                <a:spcPts val="0"/>
              </a:spcAft>
              <a:buClr>
                <a:srgbClr val="273239"/>
              </a:buClr>
              <a:buSzPts val="2000"/>
              <a:buFont typeface="Arial"/>
              <a:buChar char="•"/>
            </a:pPr>
            <a:r>
              <a:rPr b="1" i="0" lang="en-US" sz="2000">
                <a:solidFill>
                  <a:srgbClr val="273239"/>
                </a:solidFill>
              </a:rPr>
              <a:t>Horizontal or Stationary trend:</a:t>
            </a:r>
            <a:r>
              <a:rPr b="0" i="0" lang="en-US" sz="2000">
                <a:solidFill>
                  <a:srgbClr val="273239"/>
                </a:solidFill>
              </a:rPr>
              <a:t> </a:t>
            </a:r>
            <a:endParaRPr/>
          </a:p>
          <a:p>
            <a:pPr indent="0" lvl="0" marL="0" rtl="0" algn="l">
              <a:lnSpc>
                <a:spcPct val="150000"/>
              </a:lnSpc>
              <a:spcBef>
                <a:spcPts val="1000"/>
              </a:spcBef>
              <a:spcAft>
                <a:spcPts val="0"/>
              </a:spcAft>
              <a:buClr>
                <a:srgbClr val="273239"/>
              </a:buClr>
              <a:buSzPts val="1800"/>
              <a:buNone/>
            </a:pPr>
            <a:r>
              <a:rPr b="0" i="0" lang="en-US" sz="1800">
                <a:solidFill>
                  <a:srgbClr val="273239"/>
                </a:solidFill>
              </a:rPr>
              <a:t>           If no pattern is observed then it is called a Horizontal or stationary trend.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69" name="Google Shape;169;p16"/>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A Guide to Time Series Forecasting with Prophet in Python 3 | DigitalOcean" id="170" name="Google Shape;170;p16"/>
          <p:cNvPicPr preferRelativeResize="0"/>
          <p:nvPr/>
        </p:nvPicPr>
        <p:blipFill rotWithShape="1">
          <a:blip r:embed="rId3">
            <a:alphaModFix/>
          </a:blip>
          <a:srcRect b="0" l="0" r="0" t="0"/>
          <a:stretch/>
        </p:blipFill>
        <p:spPr>
          <a:xfrm>
            <a:off x="6096000" y="1180011"/>
            <a:ext cx="5885915" cy="440614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17"/>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Comparison Analysis</a:t>
            </a:r>
            <a:endParaRPr/>
          </a:p>
        </p:txBody>
      </p:sp>
      <p:sp>
        <p:nvSpPr>
          <p:cNvPr id="177" name="Google Shape;177;p17"/>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17"/>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t/>
            </a:r>
            <a:endParaRPr sz="2000">
              <a:solidFill>
                <a:srgbClr val="374151"/>
              </a:solidFill>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Comparison analysis involves comparing different variables, groups, or scenarios to identify similarities, differences, patterns, and trends.</a:t>
            </a:r>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Eg. Compare sales and profit across all the regions.</a:t>
            </a:r>
            <a:endParaRPr sz="3800"/>
          </a:p>
        </p:txBody>
      </p:sp>
      <p:sp>
        <p:nvSpPr>
          <p:cNvPr id="179" name="Google Shape;17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graphicFrame>
        <p:nvGraphicFramePr>
          <p:cNvPr id="180" name="Google Shape;180;p17"/>
          <p:cNvGraphicFramePr/>
          <p:nvPr/>
        </p:nvGraphicFramePr>
        <p:xfrm>
          <a:off x="1654317" y="2465704"/>
          <a:ext cx="8683746" cy="3844925"/>
        </p:xfrm>
        <a:graphic>
          <a:graphicData uri="http://schemas.openxmlformats.org/drawingml/2006/chart">
            <c:chart r:id="rId3"/>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18"/>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Ranking Analysis</a:t>
            </a:r>
            <a:endParaRPr/>
          </a:p>
        </p:txBody>
      </p:sp>
      <p:sp>
        <p:nvSpPr>
          <p:cNvPr id="187" name="Google Shape;187;p18"/>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18"/>
          <p:cNvSpPr txBox="1"/>
          <p:nvPr>
            <p:ph idx="1" type="body"/>
          </p:nvPr>
        </p:nvSpPr>
        <p:spPr>
          <a:xfrm>
            <a:off x="4654295" y="502919"/>
            <a:ext cx="6894576" cy="1653139"/>
          </a:xfrm>
          <a:prstGeom prst="rect">
            <a:avLst/>
          </a:prstGeom>
          <a:noFill/>
          <a:ln>
            <a:noFill/>
          </a:ln>
        </p:spPr>
        <p:txBody>
          <a:bodyPr anchorCtr="0" anchor="ctr"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t/>
            </a:r>
            <a:endParaRPr sz="2000">
              <a:solidFill>
                <a:srgbClr val="374151"/>
              </a:solidFill>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Process of evaluating and analyzing the rankings of items, entities or data, based on certain criteria or attributes.</a:t>
            </a:r>
            <a:endParaRPr/>
          </a:p>
          <a:p>
            <a:pPr indent="0" lvl="0" marL="0" rtl="0" algn="l">
              <a:lnSpc>
                <a:spcPct val="90000"/>
              </a:lnSpc>
              <a:spcBef>
                <a:spcPts val="1000"/>
              </a:spcBef>
              <a:spcAft>
                <a:spcPts val="0"/>
              </a:spcAft>
              <a:buClr>
                <a:srgbClr val="374151"/>
              </a:buClr>
              <a:buSzPct val="100000"/>
              <a:buNone/>
            </a:pPr>
            <a:r>
              <a:rPr lang="en-US" sz="3800">
                <a:solidFill>
                  <a:srgbClr val="374151"/>
                </a:solidFill>
              </a:rPr>
              <a:t>Eg. Find the top 5 products in terms of Sales.</a:t>
            </a:r>
            <a:endParaRPr sz="3800"/>
          </a:p>
        </p:txBody>
      </p:sp>
      <p:sp>
        <p:nvSpPr>
          <p:cNvPr id="189" name="Google Shape;189;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descr="Tesla Model Y Leads Italy's BEV Market In November - TrendRadars" id="190" name="Google Shape;190;p18"/>
          <p:cNvPicPr preferRelativeResize="0"/>
          <p:nvPr/>
        </p:nvPicPr>
        <p:blipFill rotWithShape="1">
          <a:blip r:embed="rId3">
            <a:alphaModFix/>
          </a:blip>
          <a:srcRect b="0" l="0" r="0" t="0"/>
          <a:stretch/>
        </p:blipFill>
        <p:spPr>
          <a:xfrm>
            <a:off x="2097344" y="2360635"/>
            <a:ext cx="7066374" cy="40040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19"/>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Contribution Analysis</a:t>
            </a:r>
            <a:endParaRPr/>
          </a:p>
        </p:txBody>
      </p:sp>
      <p:sp>
        <p:nvSpPr>
          <p:cNvPr id="197" name="Google Shape;197;p19"/>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9"/>
          <p:cNvSpPr txBox="1"/>
          <p:nvPr>
            <p:ph idx="1" type="body"/>
          </p:nvPr>
        </p:nvSpPr>
        <p:spPr>
          <a:xfrm>
            <a:off x="4654295" y="502920"/>
            <a:ext cx="6894576" cy="146304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90000"/>
              </a:lnSpc>
              <a:spcBef>
                <a:spcPts val="0"/>
              </a:spcBef>
              <a:spcAft>
                <a:spcPts val="0"/>
              </a:spcAft>
              <a:buClr>
                <a:srgbClr val="374151"/>
              </a:buClr>
              <a:buSzPts val="2000"/>
              <a:buNone/>
            </a:pPr>
            <a:r>
              <a:rPr b="0" i="0" lang="en-US" sz="2000">
                <a:solidFill>
                  <a:srgbClr val="374151"/>
                </a:solidFill>
              </a:rPr>
              <a:t>Contribution analysis is a powerful tool that helps businesses and organizations to analyze the contribution of various factors towards a particular outcome.</a:t>
            </a:r>
            <a:endParaRPr/>
          </a:p>
          <a:p>
            <a:pPr indent="0" lvl="0" marL="0" rtl="0" algn="l">
              <a:lnSpc>
                <a:spcPct val="90000"/>
              </a:lnSpc>
              <a:spcBef>
                <a:spcPts val="1000"/>
              </a:spcBef>
              <a:spcAft>
                <a:spcPts val="0"/>
              </a:spcAft>
              <a:buClr>
                <a:srgbClr val="374151"/>
              </a:buClr>
              <a:buSzPts val="2000"/>
              <a:buNone/>
            </a:pPr>
            <a:r>
              <a:rPr lang="en-US" sz="2000">
                <a:solidFill>
                  <a:srgbClr val="374151"/>
                </a:solidFill>
              </a:rPr>
              <a:t>Eg. Analyze the contribution of categories towards Sales, Revenue, etc</a:t>
            </a:r>
            <a:endParaRPr sz="2000"/>
          </a:p>
        </p:txBody>
      </p:sp>
      <p:sp>
        <p:nvSpPr>
          <p:cNvPr id="199" name="Google Shape;199;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id="200" name="Google Shape;200;p19"/>
          <p:cNvPicPr preferRelativeResize="0"/>
          <p:nvPr/>
        </p:nvPicPr>
        <p:blipFill rotWithShape="1">
          <a:blip r:embed="rId3">
            <a:alphaModFix/>
          </a:blip>
          <a:srcRect b="0" l="0" r="0" t="0"/>
          <a:stretch/>
        </p:blipFill>
        <p:spPr>
          <a:xfrm>
            <a:off x="2544846" y="2342871"/>
            <a:ext cx="6710836" cy="40579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20"/>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Pareto Analysis</a:t>
            </a:r>
            <a:endParaRPr/>
          </a:p>
        </p:txBody>
      </p:sp>
      <p:sp>
        <p:nvSpPr>
          <p:cNvPr id="207" name="Google Shape;207;p20"/>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20"/>
          <p:cNvSpPr txBox="1"/>
          <p:nvPr>
            <p:ph idx="1" type="body"/>
          </p:nvPr>
        </p:nvSpPr>
        <p:spPr>
          <a:xfrm>
            <a:off x="4654295" y="502919"/>
            <a:ext cx="6894576" cy="16219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74151"/>
              </a:buClr>
              <a:buSzPts val="2000"/>
              <a:buNone/>
            </a:pPr>
            <a:r>
              <a:rPr b="0" i="0" lang="en-US" sz="2000">
                <a:solidFill>
                  <a:srgbClr val="374151"/>
                </a:solidFill>
              </a:rPr>
              <a:t>Pareto analysis, also known as the 80/20 rule, is a management tool used to identify the most significant factors or causes that contribute to a particular outcome. In Pareto analysis, it is assumed that 80% of the effects are caused by 20% of the factors.</a:t>
            </a:r>
            <a:endParaRPr sz="2000"/>
          </a:p>
        </p:txBody>
      </p:sp>
      <p:sp>
        <p:nvSpPr>
          <p:cNvPr id="209" name="Google Shape;20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 DataMites®. All rights reserved</a:t>
            </a:r>
            <a:endParaRPr/>
          </a:p>
        </p:txBody>
      </p:sp>
      <p:sp>
        <p:nvSpPr>
          <p:cNvPr id="210" name="Google Shape;210;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pic>
        <p:nvPicPr>
          <p:cNvPr descr="Top 12 Process Improvement Tools to Enhance Workflows - frevvo Blog" id="211" name="Google Shape;211;p20"/>
          <p:cNvPicPr preferRelativeResize="0"/>
          <p:nvPr/>
        </p:nvPicPr>
        <p:blipFill rotWithShape="1">
          <a:blip r:embed="rId3">
            <a:alphaModFix/>
          </a:blip>
          <a:srcRect b="0" l="0" r="0" t="0"/>
          <a:stretch/>
        </p:blipFill>
        <p:spPr>
          <a:xfrm>
            <a:off x="1025870" y="2570238"/>
            <a:ext cx="6025460" cy="4151237"/>
          </a:xfrm>
          <a:prstGeom prst="rect">
            <a:avLst/>
          </a:prstGeom>
          <a:noFill/>
          <a:ln>
            <a:noFill/>
          </a:ln>
        </p:spPr>
      </p:pic>
      <p:sp>
        <p:nvSpPr>
          <p:cNvPr id="212" name="Google Shape;212;p20"/>
          <p:cNvSpPr txBox="1"/>
          <p:nvPr/>
        </p:nvSpPr>
        <p:spPr>
          <a:xfrm>
            <a:off x="7559040" y="3579223"/>
            <a:ext cx="360709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rgbClr val="C55A11"/>
                </a:solidFill>
                <a:latin typeface="Calibri"/>
                <a:ea typeface="Calibri"/>
                <a:cs typeface="Calibri"/>
                <a:sym typeface="Calibri"/>
              </a:rPr>
              <a:t>Restaurant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1"/>
          <p:cNvSpPr txBox="1"/>
          <p:nvPr>
            <p:ph idx="1" type="body"/>
          </p:nvPr>
        </p:nvSpPr>
        <p:spPr>
          <a:xfrm>
            <a:off x="838200" y="1271847"/>
            <a:ext cx="10515600" cy="4905116"/>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200000"/>
              </a:lnSpc>
              <a:spcBef>
                <a:spcPts val="0"/>
              </a:spcBef>
              <a:spcAft>
                <a:spcPts val="0"/>
              </a:spcAft>
              <a:buClr>
                <a:schemeClr val="dk1"/>
              </a:buClr>
              <a:buSzPct val="100000"/>
              <a:buChar char="•"/>
            </a:pPr>
            <a:r>
              <a:rPr lang="en-US"/>
              <a:t>Also called an 80-20 rule, </a:t>
            </a:r>
            <a:r>
              <a:rPr b="0" i="0" lang="en-US">
                <a:solidFill>
                  <a:srgbClr val="111111"/>
                </a:solidFill>
                <a:latin typeface="Arial"/>
                <a:ea typeface="Arial"/>
                <a:cs typeface="Arial"/>
                <a:sym typeface="Arial"/>
              </a:rPr>
              <a:t>80% of the problems are caused by 20% of facts whether if you look into profits, customer complaints, technical issues, product defects, etc.</a:t>
            </a:r>
            <a:endParaRPr/>
          </a:p>
          <a:p>
            <a:pPr indent="-228600" lvl="0" marL="228600" rtl="0" algn="l">
              <a:lnSpc>
                <a:spcPct val="200000"/>
              </a:lnSpc>
              <a:spcBef>
                <a:spcPts val="1000"/>
              </a:spcBef>
              <a:spcAft>
                <a:spcPts val="0"/>
              </a:spcAft>
              <a:buClr>
                <a:schemeClr val="dk1"/>
              </a:buClr>
              <a:buSzPct val="100000"/>
              <a:buChar char="•"/>
            </a:pPr>
            <a:r>
              <a:rPr lang="en-US" sz="2800"/>
              <a:t>It statistically separates a limited number of input factors that have a greater impact on an outcome</a:t>
            </a:r>
            <a:endParaRPr/>
          </a:p>
          <a:p>
            <a:pPr indent="-228600" lvl="0" marL="228600" rtl="0" algn="l">
              <a:lnSpc>
                <a:spcPct val="200000"/>
              </a:lnSpc>
              <a:spcBef>
                <a:spcPts val="1000"/>
              </a:spcBef>
              <a:spcAft>
                <a:spcPts val="0"/>
              </a:spcAft>
              <a:buClr>
                <a:schemeClr val="dk1"/>
              </a:buClr>
              <a:buSzPct val="100000"/>
              <a:buChar char="•"/>
            </a:pPr>
            <a:r>
              <a:rPr lang="en-US"/>
              <a:t>It is a powerful quality and decision-making tool.</a:t>
            </a:r>
            <a:endParaRPr/>
          </a:p>
          <a:p>
            <a:pPr indent="-228600" lvl="0" marL="228600" rtl="0" algn="l">
              <a:lnSpc>
                <a:spcPct val="200000"/>
              </a:lnSpc>
              <a:spcBef>
                <a:spcPts val="1000"/>
              </a:spcBef>
              <a:spcAft>
                <a:spcPts val="0"/>
              </a:spcAft>
              <a:buClr>
                <a:schemeClr val="dk1"/>
              </a:buClr>
              <a:buSzPct val="100000"/>
              <a:buChar char="•"/>
            </a:pPr>
            <a:r>
              <a:rPr lang="en-US"/>
              <a:t>It organizes and displays information to show the relative importance of various problems or causes of problems.</a:t>
            </a:r>
            <a:endParaRPr/>
          </a:p>
        </p:txBody>
      </p:sp>
      <p:sp>
        <p:nvSpPr>
          <p:cNvPr id="218" name="Google Shape;218;p21"/>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Returns &amp; Refunds</a:t>
            </a:r>
            <a:endParaRPr/>
          </a:p>
        </p:txBody>
      </p:sp>
      <p:sp>
        <p:nvSpPr>
          <p:cNvPr id="224" name="Google Shape;224;p22"/>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How to Create a Pareto Chart in Excel – Automate Excel" id="225" name="Google Shape;225;p22"/>
          <p:cNvPicPr preferRelativeResize="0"/>
          <p:nvPr>
            <p:ph idx="1" type="body"/>
          </p:nvPr>
        </p:nvPicPr>
        <p:blipFill rotWithShape="1">
          <a:blip r:embed="rId3">
            <a:alphaModFix/>
          </a:blip>
          <a:srcRect b="-338" l="0" r="0" t="6194"/>
          <a:stretch/>
        </p:blipFill>
        <p:spPr>
          <a:xfrm>
            <a:off x="838200" y="1027612"/>
            <a:ext cx="8875500" cy="5149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Attrition</a:t>
            </a:r>
            <a:endParaRPr/>
          </a:p>
        </p:txBody>
      </p:sp>
      <p:sp>
        <p:nvSpPr>
          <p:cNvPr id="231" name="Google Shape;231;p23"/>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Define Flow Chart, Control Chart, Run Chart, Pareto Diagram, &amp; Histogram" id="232" name="Google Shape;232;p23"/>
          <p:cNvPicPr preferRelativeResize="0"/>
          <p:nvPr>
            <p:ph idx="1" type="body"/>
          </p:nvPr>
        </p:nvPicPr>
        <p:blipFill rotWithShape="1">
          <a:blip r:embed="rId3">
            <a:alphaModFix/>
          </a:blip>
          <a:srcRect b="0" l="0" r="0" t="8755"/>
          <a:stretch/>
        </p:blipFill>
        <p:spPr>
          <a:xfrm>
            <a:off x="1343297" y="1130532"/>
            <a:ext cx="9133114" cy="528924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4"/>
          <p:cNvSpPr txBox="1"/>
          <p:nvPr>
            <p:ph type="title"/>
          </p:nvPr>
        </p:nvSpPr>
        <p:spPr>
          <a:xfrm>
            <a:off x="838200" y="365126"/>
            <a:ext cx="10515600" cy="765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Medication Errors</a:t>
            </a:r>
            <a:endParaRPr/>
          </a:p>
        </p:txBody>
      </p:sp>
      <p:sp>
        <p:nvSpPr>
          <p:cNvPr id="238" name="Google Shape;238;p24"/>
          <p:cNvSpPr txBox="1"/>
          <p:nvPr>
            <p:ph idx="12" type="sldNum"/>
          </p:nvPr>
        </p:nvSpPr>
        <p:spPr>
          <a:xfrm>
            <a:off x="10968644" y="6419778"/>
            <a:ext cx="573578" cy="36512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Pareto Chart - MITE MMC Institute for Teaching Excellence" id="239" name="Google Shape;239;p24"/>
          <p:cNvPicPr preferRelativeResize="0"/>
          <p:nvPr>
            <p:ph idx="1" type="body"/>
          </p:nvPr>
        </p:nvPicPr>
        <p:blipFill rotWithShape="1">
          <a:blip r:embed="rId3">
            <a:alphaModFix/>
          </a:blip>
          <a:srcRect b="0" l="0" r="0" t="0"/>
          <a:stretch/>
        </p:blipFill>
        <p:spPr>
          <a:xfrm>
            <a:off x="2894077" y="1271588"/>
            <a:ext cx="6403846" cy="4905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 name="Google Shape;245;p25"/>
          <p:cNvSpPr txBox="1"/>
          <p:nvPr>
            <p:ph type="title"/>
          </p:nvPr>
        </p:nvSpPr>
        <p:spPr>
          <a:xfrm>
            <a:off x="630936" y="502920"/>
            <a:ext cx="3419856" cy="14630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Interactive Dashboards</a:t>
            </a:r>
            <a:endParaRPr/>
          </a:p>
        </p:txBody>
      </p:sp>
      <p:sp>
        <p:nvSpPr>
          <p:cNvPr id="246" name="Google Shape;246;p25"/>
          <p:cNvSpPr/>
          <p:nvPr/>
        </p:nvSpPr>
        <p:spPr>
          <a:xfrm rot="5400000">
            <a:off x="3566159" y="1225296"/>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25"/>
          <p:cNvSpPr txBox="1"/>
          <p:nvPr>
            <p:ph idx="1" type="body"/>
          </p:nvPr>
        </p:nvSpPr>
        <p:spPr>
          <a:xfrm>
            <a:off x="4654295" y="502919"/>
            <a:ext cx="6894576" cy="162197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374151"/>
              </a:buClr>
              <a:buSzPts val="2000"/>
              <a:buNone/>
            </a:pPr>
            <a:r>
              <a:rPr b="0" i="0" lang="en-US" sz="2000">
                <a:solidFill>
                  <a:srgbClr val="374151"/>
                </a:solidFill>
              </a:rPr>
              <a:t>Interactive dashboards in Excel are a powerful way to present and analyze data. They allow users to explore and analyze data through interactive charts, tables, and visualizations.</a:t>
            </a:r>
            <a:endParaRPr/>
          </a:p>
          <a:p>
            <a:pPr indent="0" lvl="0" marL="0" rtl="0" algn="l">
              <a:lnSpc>
                <a:spcPct val="100000"/>
              </a:lnSpc>
              <a:spcBef>
                <a:spcPts val="1000"/>
              </a:spcBef>
              <a:spcAft>
                <a:spcPts val="0"/>
              </a:spcAft>
              <a:buClr>
                <a:srgbClr val="374151"/>
              </a:buClr>
              <a:buSzPts val="2000"/>
              <a:buNone/>
            </a:pPr>
            <a:r>
              <a:rPr lang="en-US" sz="2000">
                <a:solidFill>
                  <a:srgbClr val="374151"/>
                </a:solidFill>
              </a:rPr>
              <a:t>It is a Data Management tool which comes with various interactive features where users can explore the data on a deeper level. </a:t>
            </a:r>
            <a:endParaRPr sz="2000"/>
          </a:p>
        </p:txBody>
      </p:sp>
      <p:sp>
        <p:nvSpPr>
          <p:cNvPr id="248" name="Google Shape;248;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None/>
            </a:pPr>
            <a:fld id="{00000000-1234-1234-1234-123412341234}" type="slidenum">
              <a:rPr lang="en-US"/>
              <a:t>‹#›</a:t>
            </a:fld>
            <a:endParaRPr/>
          </a:p>
        </p:txBody>
      </p:sp>
      <p:sp>
        <p:nvSpPr>
          <p:cNvPr id="249" name="Google Shape;249;p25"/>
          <p:cNvSpPr txBox="1"/>
          <p:nvPr/>
        </p:nvSpPr>
        <p:spPr>
          <a:xfrm>
            <a:off x="696686" y="2447109"/>
            <a:ext cx="10852185" cy="295786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a:solidFill>
                  <a:srgbClr val="374151"/>
                </a:solidFill>
                <a:latin typeface="Calibri"/>
                <a:ea typeface="Calibri"/>
                <a:cs typeface="Calibri"/>
                <a:sym typeface="Calibri"/>
              </a:rPr>
              <a:t>- Prepare your data.</a:t>
            </a:r>
            <a:endParaRPr b="0" i="0"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b="0" i="0" lang="en-US" sz="1800">
                <a:solidFill>
                  <a:srgbClr val="374151"/>
                </a:solidFill>
                <a:latin typeface="Calibri"/>
                <a:ea typeface="Calibri"/>
                <a:cs typeface="Calibri"/>
                <a:sym typeface="Calibri"/>
              </a:rPr>
              <a:t>- Create your dashboard with charts, tables or visualizations. </a:t>
            </a:r>
            <a:endParaRPr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b="0" i="0" lang="en-US" sz="1800">
                <a:solidFill>
                  <a:srgbClr val="374151"/>
                </a:solidFill>
                <a:latin typeface="Calibri"/>
                <a:ea typeface="Calibri"/>
                <a:cs typeface="Calibri"/>
                <a:sym typeface="Calibri"/>
              </a:rPr>
              <a:t>- Add interactivity using slicer, filters, pivot table etc</a:t>
            </a:r>
            <a:endParaRPr b="0" i="0"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lang="en-US" sz="1800">
                <a:solidFill>
                  <a:srgbClr val="374151"/>
                </a:solidFill>
                <a:latin typeface="Calibri"/>
                <a:ea typeface="Calibri"/>
                <a:cs typeface="Calibri"/>
                <a:sym typeface="Calibri"/>
              </a:rPr>
              <a:t>- Customize your dashboard</a:t>
            </a:r>
            <a:endParaRPr/>
          </a:p>
          <a:p>
            <a:pPr indent="0" lvl="0" marL="0" marR="0" rtl="0" algn="l">
              <a:lnSpc>
                <a:spcPct val="150000"/>
              </a:lnSpc>
              <a:spcBef>
                <a:spcPts val="0"/>
              </a:spcBef>
              <a:spcAft>
                <a:spcPts val="0"/>
              </a:spcAft>
              <a:buNone/>
            </a:pPr>
            <a:r>
              <a:t/>
            </a:r>
            <a:endParaRPr sz="1800">
              <a:solidFill>
                <a:srgbClr val="374151"/>
              </a:solidFill>
              <a:latin typeface="Calibri"/>
              <a:ea typeface="Calibri"/>
              <a:cs typeface="Calibri"/>
              <a:sym typeface="Calibri"/>
            </a:endParaRPr>
          </a:p>
          <a:p>
            <a:pPr indent="0" lvl="0" marL="0" marR="0" rtl="0" algn="l">
              <a:lnSpc>
                <a:spcPct val="150000"/>
              </a:lnSpc>
              <a:spcBef>
                <a:spcPts val="0"/>
              </a:spcBef>
              <a:spcAft>
                <a:spcPts val="0"/>
              </a:spcAft>
              <a:buNone/>
            </a:pPr>
            <a:r>
              <a:rPr lang="en-US" sz="1800">
                <a:solidFill>
                  <a:srgbClr val="374151"/>
                </a:solidFill>
                <a:latin typeface="Calibri"/>
                <a:ea typeface="Calibri"/>
                <a:cs typeface="Calibri"/>
                <a:sym typeface="Calibri"/>
              </a:rPr>
              <a:t>With interactivity, </a:t>
            </a:r>
            <a:r>
              <a:rPr b="0" i="0" lang="en-US" sz="1800">
                <a:solidFill>
                  <a:srgbClr val="374151"/>
                </a:solidFill>
                <a:latin typeface="Calibri"/>
                <a:ea typeface="Calibri"/>
                <a:cs typeface="Calibri"/>
                <a:sym typeface="Calibri"/>
              </a:rPr>
              <a:t>you can create a powerful and effective dashboard that will help you make better decisions based on your data.</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p26"/>
          <p:cNvSpPr/>
          <p:nvPr/>
        </p:nvSpPr>
        <p:spPr>
          <a:xfrm>
            <a:off x="0" y="175260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26"/>
          <p:cNvSpPr txBox="1"/>
          <p:nvPr>
            <p:ph idx="1" type="body"/>
          </p:nvPr>
        </p:nvSpPr>
        <p:spPr>
          <a:xfrm>
            <a:off x="7676941" y="1581141"/>
            <a:ext cx="3370384" cy="57925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solidFill>
                  <a:schemeClr val="dk1"/>
                </a:solidFill>
              </a:rPr>
              <a:t>End of the Module</a:t>
            </a:r>
            <a:endParaRPr/>
          </a:p>
        </p:txBody>
      </p:sp>
      <p:sp>
        <p:nvSpPr>
          <p:cNvPr id="256" name="Google Shape;256;p26"/>
          <p:cNvSpPr/>
          <p:nvPr/>
        </p:nvSpPr>
        <p:spPr>
          <a:xfrm flipH="1">
            <a:off x="530529" y="1"/>
            <a:ext cx="1155142" cy="591009"/>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26"/>
          <p:cNvSpPr/>
          <p:nvPr/>
        </p:nvSpPr>
        <p:spPr>
          <a:xfrm flipH="1">
            <a:off x="4349052" y="0"/>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26"/>
          <p:cNvSpPr/>
          <p:nvPr/>
        </p:nvSpPr>
        <p:spPr>
          <a:xfrm flipH="1">
            <a:off x="0" y="2916245"/>
            <a:ext cx="159741" cy="552996"/>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26"/>
          <p:cNvSpPr/>
          <p:nvPr/>
        </p:nvSpPr>
        <p:spPr>
          <a:xfrm flipH="1">
            <a:off x="0" y="5835649"/>
            <a:ext cx="1548180" cy="1022351"/>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26"/>
          <p:cNvSpPr/>
          <p:nvPr/>
        </p:nvSpPr>
        <p:spPr>
          <a:xfrm flipH="1">
            <a:off x="3697761" y="5717906"/>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Q&amp;A - STM – Sea Traffic Management" id="261" name="Google Shape;261;p26"/>
          <p:cNvPicPr preferRelativeResize="0"/>
          <p:nvPr/>
        </p:nvPicPr>
        <p:blipFill rotWithShape="1">
          <a:blip r:embed="rId3">
            <a:alphaModFix/>
          </a:blip>
          <a:srcRect b="1" l="10792" r="24709" t="0"/>
          <a:stretch/>
        </p:blipFill>
        <p:spPr>
          <a:xfrm>
            <a:off x="631840" y="598720"/>
            <a:ext cx="5178249" cy="5178249"/>
          </a:xfrm>
          <a:custGeom>
            <a:rect b="b" l="l" r="r" t="t"/>
            <a:pathLst>
              <a:path extrusionOk="0" h="3741748" w="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ln>
            <a:noFill/>
          </a:ln>
        </p:spPr>
      </p:pic>
      <p:sp>
        <p:nvSpPr>
          <p:cNvPr id="262" name="Google Shape;262;p26"/>
          <p:cNvSpPr/>
          <p:nvPr/>
        </p:nvSpPr>
        <p:spPr>
          <a:xfrm flipH="1">
            <a:off x="4520513" y="6258756"/>
            <a:ext cx="1565940" cy="599245"/>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Logo&#10;&#10;Description automatically generated" id="263" name="Google Shape;263;p26"/>
          <p:cNvPicPr preferRelativeResize="0"/>
          <p:nvPr/>
        </p:nvPicPr>
        <p:blipFill rotWithShape="1">
          <a:blip r:embed="rId4">
            <a:alphaModFix/>
          </a:blip>
          <a:srcRect b="0" l="0" r="0" t="0"/>
          <a:stretch/>
        </p:blipFill>
        <p:spPr>
          <a:xfrm>
            <a:off x="7676941" y="2916245"/>
            <a:ext cx="3577213" cy="925483"/>
          </a:xfrm>
          <a:prstGeom prst="rect">
            <a:avLst/>
          </a:prstGeom>
          <a:noFill/>
          <a:ln>
            <a:noFill/>
          </a:ln>
        </p:spPr>
      </p:pic>
      <p:sp>
        <p:nvSpPr>
          <p:cNvPr id="264" name="Google Shape;264;p26"/>
          <p:cNvSpPr txBox="1"/>
          <p:nvPr/>
        </p:nvSpPr>
        <p:spPr>
          <a:xfrm>
            <a:off x="7302711" y="4393145"/>
            <a:ext cx="44683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Contact </a:t>
            </a:r>
            <a:r>
              <a:rPr lang="en-US" sz="1800" u="sng">
                <a:solidFill>
                  <a:schemeClr val="dk1"/>
                </a:solidFill>
                <a:latin typeface="Calibri"/>
                <a:ea typeface="Calibri"/>
                <a:cs typeface="Calibri"/>
                <a:sym typeface="Calibri"/>
                <a:hlinkClick r:id="rId5">
                  <a:extLst>
                    <a:ext uri="{A12FA001-AC4F-418D-AE19-62706E023703}">
                      <ahyp:hlinkClr val="tx"/>
                    </a:ext>
                  </a:extLst>
                </a:hlinkClick>
              </a:rPr>
              <a:t>care@datamites.com</a:t>
            </a:r>
            <a:r>
              <a:rPr lang="en-US" sz="1800">
                <a:solidFill>
                  <a:schemeClr val="dk1"/>
                </a:solidFill>
                <a:latin typeface="Calibri"/>
                <a:ea typeface="Calibri"/>
                <a:cs typeface="Calibri"/>
                <a:sym typeface="Calibri"/>
              </a:rPr>
              <a:t>  for any queries</a:t>
            </a:r>
            <a:endParaRPr/>
          </a:p>
        </p:txBody>
      </p:sp>
      <p:grpSp>
        <p:nvGrpSpPr>
          <p:cNvPr id="265" name="Google Shape;265;p26"/>
          <p:cNvGrpSpPr/>
          <p:nvPr/>
        </p:nvGrpSpPr>
        <p:grpSpPr>
          <a:xfrm>
            <a:off x="5615740" y="135600"/>
            <a:ext cx="2061216" cy="2024812"/>
            <a:chOff x="13944600" y="3619500"/>
            <a:chExt cx="4294200" cy="4218359"/>
          </a:xfrm>
        </p:grpSpPr>
        <p:sp>
          <p:nvSpPr>
            <p:cNvPr id="266" name="Google Shape;266;p26"/>
            <p:cNvSpPr/>
            <p:nvPr/>
          </p:nvSpPr>
          <p:spPr>
            <a:xfrm>
              <a:off x="14731458" y="5067300"/>
              <a:ext cx="2720338" cy="2770559"/>
            </a:xfrm>
            <a:custGeom>
              <a:rect b="b" l="l" r="r" t="t"/>
              <a:pathLst>
                <a:path extrusionOk="0" h="3348108" w="3348108">
                  <a:moveTo>
                    <a:pt x="0" y="0"/>
                  </a:moveTo>
                  <a:lnTo>
                    <a:pt x="3348108" y="0"/>
                  </a:lnTo>
                  <a:lnTo>
                    <a:pt x="3348108" y="3348108"/>
                  </a:lnTo>
                  <a:lnTo>
                    <a:pt x="0" y="334810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2">
                <a:solidFill>
                  <a:srgbClr val="000000"/>
                </a:solidFill>
                <a:latin typeface="Calibri"/>
                <a:ea typeface="Calibri"/>
                <a:cs typeface="Calibri"/>
                <a:sym typeface="Calibri"/>
              </a:endParaRPr>
            </a:p>
          </p:txBody>
        </p:sp>
        <p:sp>
          <p:nvSpPr>
            <p:cNvPr id="267" name="Google Shape;267;p26"/>
            <p:cNvSpPr txBox="1"/>
            <p:nvPr/>
          </p:nvSpPr>
          <p:spPr>
            <a:xfrm>
              <a:off x="13944600" y="3619500"/>
              <a:ext cx="4294200" cy="1262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592">
                  <a:solidFill>
                    <a:srgbClr val="000000"/>
                  </a:solidFill>
                  <a:latin typeface="Calibri"/>
                  <a:ea typeface="Calibri"/>
                  <a:cs typeface="Calibri"/>
                  <a:sym typeface="Calibri"/>
                </a:rPr>
                <a:t>Refer &amp; Earn</a:t>
              </a:r>
              <a:endParaRPr/>
            </a:p>
            <a:p>
              <a:pPr indent="0" lvl="0" marL="0" marR="0" rtl="0" algn="ctr">
                <a:spcBef>
                  <a:spcPts val="0"/>
                </a:spcBef>
                <a:spcAft>
                  <a:spcPts val="0"/>
                </a:spcAft>
                <a:buNone/>
              </a:pPr>
              <a:r>
                <a:rPr b="1" lang="en-US" sz="1344">
                  <a:solidFill>
                    <a:srgbClr val="000000"/>
                  </a:solidFill>
                  <a:latin typeface="Calibri"/>
                  <a:ea typeface="Calibri"/>
                  <a:cs typeface="Calibri"/>
                  <a:sym typeface="Calibri"/>
                </a:rPr>
                <a:t>up to ₹ 5,000/- per referral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2022-12-11T17:17:08Z</dcterms:created>
  <dc:creator>Ashok Kumar A</dc:creator>
</cp:coreProperties>
</file>